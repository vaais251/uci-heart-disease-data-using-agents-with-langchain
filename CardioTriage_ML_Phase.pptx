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disease (411)</c:v>
                </c:pt>
                <c:pt idx="1">
                  <c:v>Disease (509)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411</c:v>
                </c:pt>
                <c:pt idx="1">
                  <c:v>509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7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7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ca</c:v>
                  </c:pt>
                  <c:pt idx="1">
                    <c:v>thal</c:v>
                  </c:pt>
                  <c:pt idx="2">
                    <c:v>slope</c:v>
                  </c:pt>
                  <c:pt idx="3">
                    <c:v>fbs</c:v>
                  </c:pt>
                  <c:pt idx="4">
                    <c:v>oldpeak</c:v>
                  </c:pt>
                  <c:pt idx="5">
                    <c:v>trestbps</c:v>
                  </c:pt>
                  <c:pt idx="6">
                    <c:v>exang</c:v>
                  </c:pt>
                  <c:pt idx="7">
                    <c:v>thalch</c:v>
                  </c:pt>
                  <c:pt idx="8">
                    <c:v>chol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66.4</c:v>
                </c:pt>
                <c:pt idx="1">
                  <c:v>52.8</c:v>
                </c:pt>
                <c:pt idx="2">
                  <c:v>33.6</c:v>
                </c:pt>
                <c:pt idx="3">
                  <c:v>9.8</c:v>
                </c:pt>
                <c:pt idx="4">
                  <c:v>6.7</c:v>
                </c:pt>
                <c:pt idx="5">
                  <c:v>6.4</c:v>
                </c:pt>
                <c:pt idx="6">
                  <c:v>6</c:v>
                </c:pt>
                <c:pt idx="7">
                  <c:v>6</c:v>
                </c:pt>
                <c:pt idx="8">
                  <c:v>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47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7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7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</c:v>
                  </c:pt>
                  <c:pt idx="1">
                    <c:v>thalch</c:v>
                  </c:pt>
                  <c:pt idx="2">
                    <c:v>oldpeak</c:v>
                  </c:pt>
                  <c:pt idx="3">
                    <c:v>age</c:v>
                  </c:pt>
                  <c:pt idx="4">
                    <c:v>chol</c:v>
                  </c:pt>
                  <c:pt idx="5">
                    <c:v>trestbps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</c:v>
                </c:pt>
                <c:pt idx="1">
                  <c:v>0.4</c:v>
                </c:pt>
                <c:pt idx="2">
                  <c:v>0.38</c:v>
                </c:pt>
                <c:pt idx="3">
                  <c:v>0.31</c:v>
                </c:pt>
                <c:pt idx="4">
                  <c:v>0.12</c:v>
                </c:pt>
                <c:pt idx="5">
                  <c:v>0.12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47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7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7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Gradient Boosting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0.189</c:v>
                </c:pt>
                <c:pt idx="1">
                  <c:v>0.124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regularized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7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Gradient Boosting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0.04</c:v>
                </c:pt>
                <c:pt idx="1">
                  <c:v>0.074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3347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7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347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7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LogReg</c:v>
                  </c:pt>
                  <c:pt idx="1">
                    <c:v>Rand. Forest</c:v>
                  </c:pt>
                  <c:pt idx="2">
                    <c:v>Grad. Boost</c:v>
                  </c:pt>
                  <c:pt idx="3">
                    <c:v>GB @ 0.35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0.843</c:v>
                </c:pt>
                <c:pt idx="1">
                  <c:v>0.863</c:v>
                </c:pt>
                <c:pt idx="2">
                  <c:v>0.892</c:v>
                </c:pt>
                <c:pt idx="3">
                  <c:v>0.961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3347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7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201168" cy="1828800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CardioTriage AI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86968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Machine Learning Phase — Detailed Walkthrough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86968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0819A"/>
                </a:solidFill>
              </a:rPr>
              <a:t>From raw cardiac records to a deployed risk-and-phenotype engine (Steps A1–A8)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408736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4718304"/>
            <a:ext cx="20116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patients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97764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408736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4718304"/>
            <a:ext cx="20116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models compared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397764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408736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06440" y="4718304"/>
            <a:ext cx="20116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ROC-AUC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397764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408736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0" y="4718304"/>
            <a:ext cx="20116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recall (tuned)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819A"/>
                </a:solidFill>
              </a:rPr>
              <a:t>BS Artificial Intelligence  ·  Combined Assessment (Intro to AI + Machine Learning)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Machine Learning Phase 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FCEDE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109728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928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1 · Data &amp; 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8928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ML risk engine — predicts per-patient risk probability + phenotype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80360"/>
            <a:ext cx="109728" cy="960120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900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3F"/>
                </a:solidFill>
              </a:rPr>
              <a:t>2 · Classical AI 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9900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A* search · CSP allocator · forward-chaining knowledge base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977640"/>
            <a:ext cx="109728" cy="960120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873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3F"/>
                </a:solidFill>
              </a:rPr>
              <a:t>3 · Orchestration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4087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Gemini + LangChain agent — decides which tool to call &amp; explains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5074920"/>
            <a:ext cx="109728" cy="960120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1846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3F"/>
                </a:solidFill>
              </a:rPr>
              <a:t>4 · Presentation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51846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Interactive web triage board (ranking, paths, allocations)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12480" y="178308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0F2C3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9536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deck covers Layer 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28346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</a:rPr>
              <a:t>Phase A builds the ML risk engine — Steps A1–A8.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</a:rPr>
              <a:t>Its outputs (risk probability + phenotype) become the inputs every layer above consumes.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The LLM never makes a medical call alone — it coordinates deterministic tools.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— UCI Heart Disease (combined)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920 patients × 16 clinical columns.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Pooled from four hospitals (multi-site).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Target 'num' (0–4) → binarized: 0 = no disease, 1–4 = disease.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Contains real missing values — handled honestly, not dropped.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087368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498848"/>
            <a:ext cx="2560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Cleveland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4087368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4498848"/>
            <a:ext cx="2560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Hungary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9834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5093208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5504688"/>
            <a:ext cx="2560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VA Long Beach records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49834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5093208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20440" y="5504688"/>
            <a:ext cx="2560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Switzerland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178308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3F"/>
                </a:solidFill>
              </a:rPr>
              <a:t>Outcome balance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040880" y="228600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Steps, One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67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Inspect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shape, types, missingness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0116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25112" y="2267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Preprocess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clean · encode · scale · split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20116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994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87184" y="2267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Explore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994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EDA: what separates sick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43416" y="20116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49256" y="2267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Baseline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7201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Logistic Regression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4233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Compare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4937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RF &amp; Gradient Boosting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19272" y="3977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47872" y="4206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3547872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25112" y="4233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Tune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47872" y="4937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bias-variance · reg · threshold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81344" y="3977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9944" y="4206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9944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87184" y="4233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Cluster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9944" y="4937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K-means risk phenotypes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43416" y="3977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72016" y="4206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9272016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049256" y="4233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3F"/>
                </a:solidFill>
              </a:rPr>
              <a:t>Save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72016" y="4937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persist + bridge to AI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&amp; Inspect the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Read the CSV into a pandas DataFrame — change nothing yet.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Confirmed 920 rows × 16 columns; identified each column's meaning &amp; type.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Target distribution: 411 healthy vs 509 diseased (after binarizing).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Surfaced the missing-value map (right) — the central challenge.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CEDE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4069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Key finding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75B"/>
                </a:solidFill>
              </a:rPr>
              <a:t>ca (66%) and thal (53%) are missing for over half of patients — too valuable to drop, too sparse to ignore. This drove the A2 strategy.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Missing values by column (%)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537960" y="2286000"/>
          <a:ext cx="5074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— Leakage-Safe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Binarize target: num 1–4 → 1 (disease present).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Drop id (row number) and dataset (hospital — a confound).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Fix hidden missingness: chol = 0 is impossible → 172 cases set to missing.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Add ca_missing / thal_missing flags so the model knows a value was estimated.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Median/mode impute · one-hot encode · standardize — all inside one Pipeline.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Fit on TRAIN only, apply to TEST → no information leaks across the split.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18745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52360" y="1984248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736 / 184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52360" y="2615184"/>
            <a:ext cx="187452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stratified train /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0" y="18745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92640" y="1984248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0.553 / 0.554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0" y="2615184"/>
            <a:ext cx="187452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disease rate · train vs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3291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401568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→ 27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52360" y="4032504"/>
            <a:ext cx="187452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features after encoding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0" y="3291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92640" y="3401568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92640" y="4032504"/>
            <a:ext cx="187452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missing values remaining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4800600"/>
            <a:ext cx="4343400" cy="1325880"/>
          </a:xfrm>
          <a:prstGeom prst="roundRect">
            <a:avLst>
              <a:gd name="adj" fmla="val 5517"/>
            </a:avLst>
          </a:prstGeom>
          <a:solidFill>
            <a:srgbClr val="0F2C3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4380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leakage matters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43800" y="5303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If fill-values or scales were learned from the whole dataset, the test score would be inflated and dishonest.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 — What Separates Sick from Healthy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Mean value by outcome (training set)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Disease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Healthy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thalch (max HR)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128.2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149.1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strong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oldpeak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1.3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strong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ca (vessels)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1.1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strong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56.2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50.4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chol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254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240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0819A"/>
                          </a:solidFill>
                        </a:rPr>
                        <a:t>weak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trestbps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134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130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0819A"/>
                          </a:solidFill>
                        </a:rPr>
                        <a:t>weak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07492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FCEDE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51755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Silent danger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486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Asymptomatic chest pain shows the HIGHEST disease rate (78%) — the 'silent' group screening can miss.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pic>
        <p:nvPicPr>
          <p:cNvPr id="11" name="Image 0" descr="D:\Coding playGround\Ml_AI_project\images\a3_categorical_r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234454"/>
            <a:ext cx="5166360" cy="35778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Correlation with Disease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pic>
        <p:nvPicPr>
          <p:cNvPr id="6" name="Image 0" descr="D:\Coding playGround\Ml_AI_project\images\a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16" y="1874520"/>
            <a:ext cx="5728807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3F"/>
                </a:solidFill>
              </a:rPr>
              <a:t>Strength of link with disease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675120" y="219456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49377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0" y="50292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75B"/>
                </a:solidFill>
              </a:rPr>
              <a:t>ca, thalch, oldpeak, age are the strongest signals.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75B"/>
                </a:solidFill>
              </a:rPr>
              <a:t>chol &amp; BP correlate weakly — famous ≠ predictive.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75B"/>
                </a:solidFill>
              </a:rPr>
              <a:t>No pair exceeds 0.38 → low multicollinearity (good for the baseline).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 — Logistic 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3852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82880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93852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88920" y="2487168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17296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" y="3721608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306324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317296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88920" y="3721608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Specificity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40740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8640" y="4956048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F1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429768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88920" y="440740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788920" y="4956048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ROC-AUC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4937760"/>
            <a:ext cx="6629400" cy="1325880"/>
          </a:xfrm>
          <a:prstGeom prst="roundRect">
            <a:avLst>
              <a:gd name="adj" fmla="val 5517"/>
            </a:avLst>
          </a:prstGeom>
          <a:solidFill>
            <a:srgbClr val="0F2C3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57800" y="50474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 it clinically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53583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Caught 86 of 102 sick patients; 16 missed cases (false negatives) are the target for tuning. Train 0.836 vs test 0.799 → small gap, a healthy baseline.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74920" y="1783080"/>
            <a:ext cx="66294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pic>
        <p:nvPicPr>
          <p:cNvPr id="27" name="Image 0" descr="D:\Coding playGround\Ml_AI_project\images\a4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0" y="1874520"/>
            <a:ext cx="3543300" cy="28346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 Compared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"/>
                <a:gridCol w="777240"/>
                <a:gridCol w="685800"/>
                <a:gridCol w="685800"/>
                <a:gridCol w="68580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0.799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0.744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0.744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0.834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0.907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C3F"/>
                          </a:solidFill>
                        </a:rPr>
                        <a:t>Gradient Boosting 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0.892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0.732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0.847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0.905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0.916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64008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224528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Both ensembles beat the baseline — real non-linear interactions exist.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Random Forest hit a perfect 1.000 on training → clear overfitting.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Winner: Gradient Boosting — best recall (0.892), F1 and accuracy; AUC tied for top.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86600" y="1783080"/>
            <a:ext cx="46177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6948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ROC curves</a:t>
            </a:r>
            <a:endParaRPr lang="en-US" sz="1300" dirty="0"/>
          </a:p>
        </p:txBody>
      </p:sp>
      <p:pic>
        <p:nvPicPr>
          <p:cNvPr id="10" name="Image 0" descr="D:\Coding playGround\Ml_AI_project\images\a5_roc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358390"/>
            <a:ext cx="4434840" cy="3695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A6a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Bias–Variance Diagnosis (Learning Curves)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7455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pic>
        <p:nvPicPr>
          <p:cNvPr id="6" name="Image 0" descr="D:\Coding playGround\Ml_AI_project\images\a6a_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1874520"/>
            <a:ext cx="8631936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846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0.021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5229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Mild bias, low variance — curves meet; more data won't help.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79392" y="4846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62272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62272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0.181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62272" y="55229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Severe overfitting — train pinned at 1.000 while CV lags.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01584" y="4846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84464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84464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0.127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84464" y="55229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Moderate, still converging — regularization should help.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A6b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 — Shrinking the Variance Gap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Train–CV accuracy gap: before vs after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28600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201168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Random Forest: gap crushed 0.189 → 0.040 (depth &amp; leaf limits).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Gradient Boosting: gap halved 0.124 → 0.074 — and CV accuracy rose.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Logistic Regression is bias-limited: regularization couldn't help it.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L1 (lasso) drove 11 of 27 coefficients to exactly zero — automatic feature selection.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50292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CEDE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The lesson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5440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The cure depends on the diagnosis: high variance → constrain complexity; high bias → add capacity.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A6c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Tuning — Prioritizing Recall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Default 0.50  vs  tuned 0.35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Missed cases (FN)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0.902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0.961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0.778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Specificity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0.756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0.659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43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453128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missed cases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4343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F2C3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4612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lower?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46120" y="47365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 missed heart disease ≫ a false alarm. We accept 8 extra alarms to catch 6 more real cases.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97880" y="1783080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pic>
        <p:nvPicPr>
          <p:cNvPr id="14" name="Image 0" descr="D:\Coding playGround\Ml_AI_project\images\a6c_threshold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265998"/>
            <a:ext cx="5623560" cy="35147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Phenotypes — K-means (k = 4)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6126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10058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Disease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Phenotype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74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Advanced multi-vessel disease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211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Hypertensive-hypercholesterolemic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292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0.66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Reduced-exertion / low max-HR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343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0.28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</a:rPr>
                        <a:t>Younger lower-risk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6126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544568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</a:rPr>
              <a:t>Unsupervised: target hidden during fitting, used only to interpret.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</a:rPr>
              <a:t>Chose k=4 for clinical granularity (silhouette was flat) — a transparent judgment call.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</a:rPr>
              <a:t>Each phenotype gives the AI agent a priority hint beyond raw probability.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20840" y="178308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37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Clusters in 2D (PCA view)</a:t>
            </a:r>
            <a:endParaRPr lang="en-US" sz="1300" dirty="0"/>
          </a:p>
        </p:txBody>
      </p:sp>
      <p:pic>
        <p:nvPicPr>
          <p:cNvPr id="10" name="Image 0" descr="D:\Coding playGround\Ml_AI_project\images\a7_clusters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320694"/>
            <a:ext cx="4800600" cy="37710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A8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 &amp; Bridge to the AI Phase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3F"/>
                </a:solidFill>
              </a:rPr>
              <a:t>Saved artifacts (models/)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risk_model.joblib — regularized Gradient Boosting pipeline (refit on all 920).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phenotype_model.joblib — K-means impute+scale+cluster.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metadata.json — threshold 0.35, feature list, phenotype map, test metrics.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408736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4636008"/>
            <a:ext cx="160020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Recall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04872" y="397764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408736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96312" y="4636008"/>
            <a:ext cx="160020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ROC-AUC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2544" y="397764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43984" y="408736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43984" y="4636008"/>
            <a:ext cx="160020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819A"/>
                </a:solidFill>
              </a:rPr>
              <a:t>Held-out test metrics @ threshold 0.35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7830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2C3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model_api.assess(patient)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24231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HIGH-risk patient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probability : 0.976  → high-risk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phenotype   : Advanced multi-vessel (priority 1)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BE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LOW-risk patient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probability : 0.013  → cleared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phenotype   : Younger lower-risk (priority 4)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5486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</a:rPr>
              <a:t>One clean call returns risk + phenotype — the launchpad for Phase B.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A — Headline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38528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ROC-AUC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938528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10712" y="2651760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Recall (tuned)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938528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72784" y="2651760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Missed cases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43416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4856" y="1938528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34856" y="2651760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75B"/>
                </a:solidFill>
              </a:rPr>
              <a:t>Risk phenotypes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639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3F"/>
                </a:solidFill>
              </a:rPr>
              <a:t>Recall across models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97764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355080" y="352044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37960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3F"/>
                </a:solidFill>
              </a:rPr>
              <a:t>What we delivered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37960" y="40233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Best model: regularized Gradient Boosting.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Full leakage-safe pipeline, reused across every step.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Tuned for safety: only 4 missed cases out of 102.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Four interpretable phenotypes to guide triage.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75B"/>
                </a:solidFill>
              </a:rPr>
              <a:t>One-call interface bridging ML → AI.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CardioTriage AI  ·  Machine Learning Phase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19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88720"/>
            <a:ext cx="201168" cy="1280160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Phase: Complete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86968" y="2057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</a:rPr>
              <a:t>A trained, evaluated, deployable cardiac-risk engine.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86968" y="278892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Inspected, cleaned, and encoded 920 records — leakage-safe.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Compared three models; chose Gradient Boosting on recall &amp; AUC.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Diagnosed bias/variance, regularized, and tuned the threshold for safety.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Discovered four clinical risk phenotypes with K-means.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Saved the model and exposed assess(patient) for the AI phase.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2743200"/>
            <a:ext cx="3200400" cy="2651760"/>
          </a:xfrm>
          <a:prstGeom prst="roundRect">
            <a:avLst>
              <a:gd name="adj" fmla="val 2759"/>
            </a:avLst>
          </a:prstGeom>
          <a:solidFill>
            <a:srgbClr val="0F2C3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325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32520" y="3383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Say “start the AI phase” to build A* search, the CSP allocator, the knowledge base, and the Gemini + LangChain agent — all on top of assess().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819A"/>
                </a:solidFill>
              </a:rPr>
              <a:t>CardioTriage AI  ·  BSAI Combined Assessment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CardioTriage AI — Machine Learning Phase</dc:title>
  <dc:subject>PptxGenJS Presentation</dc:subject>
  <dc:creator>CardioTriage AI</dc:creator>
  <cp:lastModifiedBy>CardioTriage AI</cp:lastModifiedBy>
  <cp:revision>1</cp:revision>
  <dcterms:created xsi:type="dcterms:W3CDTF">2026-06-02T14:59:41Z</dcterms:created>
  <dcterms:modified xsi:type="dcterms:W3CDTF">2026-06-02T14:59:41Z</dcterms:modified>
</cp:coreProperties>
</file>